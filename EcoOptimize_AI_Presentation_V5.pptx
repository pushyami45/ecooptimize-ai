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1BC17D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6E6E6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BC17D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E6E6E6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BC17D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rgbClr val="1BC17D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A1D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575" y="405130"/>
            <a:ext cx="7896225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rgbClr val="1BC17D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575" y="1218951"/>
            <a:ext cx="7372984" cy="2201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E6E6E6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pushyamireddy4533@gmail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94610" y="1845246"/>
            <a:ext cx="4960620" cy="8496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400"/>
              <a:t>EcoOptimize</a:t>
            </a:r>
            <a:r>
              <a:rPr dirty="0" sz="5400" spc="-25"/>
              <a:t> AI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1115377" y="2953385"/>
            <a:ext cx="6908800" cy="7645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Intelligent</a:t>
            </a:r>
            <a:r>
              <a:rPr dirty="0" sz="2400" spc="-7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Energy</a:t>
            </a:r>
            <a:r>
              <a:rPr dirty="0" sz="2400" spc="-5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Management</a:t>
            </a:r>
            <a:r>
              <a:rPr dirty="0" sz="2400" spc="-7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for</a:t>
            </a:r>
            <a:r>
              <a:rPr dirty="0" sz="2400" spc="-9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Smart</a:t>
            </a:r>
            <a:r>
              <a:rPr dirty="0" sz="2400" spc="-7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Buildings</a:t>
            </a:r>
            <a:endParaRPr sz="2400">
              <a:latin typeface="Segoe UI"/>
              <a:cs typeface="Segoe UI"/>
            </a:endParaRPr>
          </a:p>
          <a:p>
            <a:pPr algn="ctr" marL="9525">
              <a:lnSpc>
                <a:spcPct val="100000"/>
              </a:lnSpc>
              <a:spcBef>
                <a:spcPts val="50"/>
              </a:spcBef>
            </a:pPr>
            <a:r>
              <a:rPr dirty="0" sz="2400" spc="-20">
                <a:solidFill>
                  <a:srgbClr val="E6E6E6"/>
                </a:solidFill>
                <a:latin typeface="Segoe UI"/>
                <a:cs typeface="Segoe UI"/>
              </a:rPr>
              <a:t>Yuva</a:t>
            </a:r>
            <a:r>
              <a:rPr dirty="0" sz="2400" spc="-4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45">
                <a:solidFill>
                  <a:srgbClr val="E6E6E6"/>
                </a:solidFill>
                <a:latin typeface="Segoe UI"/>
                <a:cs typeface="Segoe UI"/>
              </a:rPr>
              <a:t>Yodha</a:t>
            </a:r>
            <a:r>
              <a:rPr dirty="0" sz="2400" spc="-10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Energy</a:t>
            </a:r>
            <a:r>
              <a:rPr dirty="0" sz="2400" spc="-114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50">
                <a:solidFill>
                  <a:srgbClr val="E6E6E6"/>
                </a:solidFill>
                <a:latin typeface="Segoe UI"/>
                <a:cs typeface="Segoe UI"/>
              </a:rPr>
              <a:t>Tech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Hackathon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0">
                <a:solidFill>
                  <a:srgbClr val="E6E6E6"/>
                </a:solidFill>
                <a:latin typeface="Segoe UI"/>
                <a:cs typeface="Segoe UI"/>
              </a:rPr>
              <a:t>2026</a:t>
            </a:r>
            <a:endParaRPr sz="2400">
              <a:latin typeface="Segoe UI"/>
              <a:cs typeface="Segoe U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1650" y="4076636"/>
            <a:ext cx="5596255" cy="157480"/>
            <a:chOff x="1771650" y="4076636"/>
            <a:chExt cx="5596255" cy="1574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1650" y="4076636"/>
              <a:ext cx="5596001" cy="1571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8800" y="4114799"/>
              <a:ext cx="5486400" cy="47625"/>
            </a:xfrm>
            <a:custGeom>
              <a:avLst/>
              <a:gdLst/>
              <a:ahLst/>
              <a:cxnLst/>
              <a:rect l="l" t="t" r="r" b="b"/>
              <a:pathLst>
                <a:path w="5486400" h="47625">
                  <a:moveTo>
                    <a:pt x="5486400" y="0"/>
                  </a:moveTo>
                  <a:lnTo>
                    <a:pt x="0" y="0"/>
                  </a:lnTo>
                  <a:lnTo>
                    <a:pt x="0" y="47625"/>
                  </a:lnTo>
                  <a:lnTo>
                    <a:pt x="5486400" y="47625"/>
                  </a:lnTo>
                  <a:lnTo>
                    <a:pt x="5486400" y="0"/>
                  </a:lnTo>
                  <a:close/>
                </a:path>
              </a:pathLst>
            </a:custGeom>
            <a:solidFill>
              <a:srgbClr val="1BC17D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dirty="0" spc="10"/>
              <a:t> </a:t>
            </a:r>
            <a:r>
              <a:rPr dirty="0"/>
              <a:t>Problem:</a:t>
            </a:r>
            <a:r>
              <a:rPr dirty="0" spc="45"/>
              <a:t> </a:t>
            </a:r>
            <a:r>
              <a:rPr dirty="0"/>
              <a:t>Energy</a:t>
            </a:r>
            <a:r>
              <a:rPr dirty="0" spc="35"/>
              <a:t> </a:t>
            </a:r>
            <a:r>
              <a:rPr dirty="0" spc="-10"/>
              <a:t>Waste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218951"/>
            <a:ext cx="8025130" cy="2029460"/>
          </a:xfrm>
          <a:prstGeom prst="rect">
            <a:avLst/>
          </a:prstGeom>
        </p:spPr>
        <p:txBody>
          <a:bodyPr wrap="square" lIns="0" tIns="191135" rIns="0" bIns="0" rtlCol="0" vert="horz">
            <a:spAutoFit/>
          </a:bodyPr>
          <a:lstStyle/>
          <a:p>
            <a:pPr marL="221615" indent="-208915">
              <a:lnSpc>
                <a:spcPct val="100000"/>
              </a:lnSpc>
              <a:spcBef>
                <a:spcPts val="150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Nearly</a:t>
            </a:r>
            <a:r>
              <a:rPr dirty="0" sz="2400" spc="-7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40%</a:t>
            </a:r>
            <a:r>
              <a:rPr dirty="0" sz="2400" spc="-4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of</a:t>
            </a:r>
            <a:r>
              <a:rPr dirty="0" sz="2400" spc="-4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global</a:t>
            </a:r>
            <a:r>
              <a:rPr dirty="0" sz="2400" spc="-2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energy</a:t>
            </a:r>
            <a:r>
              <a:rPr dirty="0" sz="2400" spc="-7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is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consumed</a:t>
            </a:r>
            <a:r>
              <a:rPr dirty="0" sz="2400" spc="-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by</a:t>
            </a:r>
            <a:r>
              <a:rPr dirty="0" sz="2400" spc="-7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buildings.</a:t>
            </a:r>
            <a:endParaRPr sz="2400">
              <a:latin typeface="Segoe UI"/>
              <a:cs typeface="Segoe UI"/>
            </a:endParaRPr>
          </a:p>
          <a:p>
            <a:pPr marL="221615" indent="-208915">
              <a:lnSpc>
                <a:spcPct val="100000"/>
              </a:lnSpc>
              <a:spcBef>
                <a:spcPts val="1400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Up</a:t>
            </a:r>
            <a:r>
              <a:rPr dirty="0" sz="2400" spc="-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to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30%</a:t>
            </a:r>
            <a:r>
              <a:rPr dirty="0" sz="2400" spc="-5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of</a:t>
            </a:r>
            <a:r>
              <a:rPr dirty="0" sz="2400" spc="-4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this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energy</a:t>
            </a:r>
            <a:r>
              <a:rPr dirty="0" sz="2400" spc="-7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is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purely</a:t>
            </a:r>
            <a:r>
              <a:rPr dirty="0" sz="2400" spc="-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wasted.</a:t>
            </a:r>
            <a:endParaRPr sz="2400">
              <a:latin typeface="Segoe UI"/>
              <a:cs typeface="Segoe UI"/>
            </a:endParaRPr>
          </a:p>
          <a:p>
            <a:pPr marL="221615" indent="-208915">
              <a:lnSpc>
                <a:spcPct val="100000"/>
              </a:lnSpc>
              <a:spcBef>
                <a:spcPts val="1400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Modern</a:t>
            </a:r>
            <a:r>
              <a:rPr dirty="0" sz="2400" spc="-11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commercial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real</a:t>
            </a:r>
            <a:r>
              <a:rPr dirty="0" sz="2400" spc="-8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estate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relies</a:t>
            </a:r>
            <a:r>
              <a:rPr dirty="0" sz="2400" spc="-7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on</a:t>
            </a:r>
            <a:r>
              <a:rPr dirty="0" sz="2400" spc="-11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outdated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heating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and</a:t>
            </a:r>
            <a:r>
              <a:rPr dirty="0" sz="2400" spc="-5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lighting</a:t>
            </a:r>
            <a:r>
              <a:rPr dirty="0" sz="2400" spc="-5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schedules.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Why It</a:t>
            </a:r>
            <a:r>
              <a:rPr dirty="0" spc="60"/>
              <a:t> </a:t>
            </a:r>
            <a:r>
              <a:rPr dirty="0"/>
              <a:t>Matters:</a:t>
            </a:r>
            <a:r>
              <a:rPr dirty="0" spc="85"/>
              <a:t> </a:t>
            </a:r>
            <a:r>
              <a:rPr dirty="0"/>
              <a:t>The</a:t>
            </a:r>
            <a:r>
              <a:rPr dirty="0" spc="65"/>
              <a:t> </a:t>
            </a:r>
            <a:r>
              <a:rPr dirty="0"/>
              <a:t>Global</a:t>
            </a:r>
            <a:r>
              <a:rPr dirty="0" spc="-45"/>
              <a:t> </a:t>
            </a:r>
            <a:r>
              <a:rPr dirty="0" spc="-20"/>
              <a:t>Cost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396745"/>
            <a:ext cx="4324350" cy="3683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662940" indent="208915">
              <a:lnSpc>
                <a:spcPct val="100400"/>
              </a:lnSpc>
              <a:spcBef>
                <a:spcPts val="90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Grid</a:t>
            </a:r>
            <a:r>
              <a:rPr dirty="0" sz="2400" spc="-10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Strain:</a:t>
            </a:r>
            <a:r>
              <a:rPr dirty="0" sz="2400" spc="-10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Peak</a:t>
            </a:r>
            <a:r>
              <a:rPr dirty="0" sz="2400" spc="-10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loads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threaten</a:t>
            </a:r>
            <a:r>
              <a:rPr dirty="0" sz="2400" spc="-6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the</a:t>
            </a:r>
            <a:r>
              <a:rPr dirty="0" sz="2400" spc="-11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stability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of</a:t>
            </a:r>
            <a:r>
              <a:rPr dirty="0" sz="2400" spc="-6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the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power</a:t>
            </a:r>
            <a:r>
              <a:rPr dirty="0" sz="2400" spc="-10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0">
                <a:solidFill>
                  <a:srgbClr val="E6E6E6"/>
                </a:solidFill>
                <a:latin typeface="Segoe UI"/>
                <a:cs typeface="Segoe UI"/>
              </a:rPr>
              <a:t>grid.</a:t>
            </a:r>
            <a:endParaRPr sz="2400">
              <a:latin typeface="Segoe UI"/>
              <a:cs typeface="Segoe UI"/>
            </a:endParaRPr>
          </a:p>
          <a:p>
            <a:pPr marL="12700" marR="144780" indent="208915">
              <a:lnSpc>
                <a:spcPct val="100400"/>
              </a:lnSpc>
              <a:spcBef>
                <a:spcPts val="1390"/>
              </a:spcBef>
              <a:buChar char="•"/>
              <a:tabLst>
                <a:tab pos="221615" algn="l"/>
              </a:tabLst>
            </a:pP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Decarbonization:</a:t>
            </a:r>
            <a:r>
              <a:rPr dirty="0" sz="2400" spc="-7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Scope</a:t>
            </a:r>
            <a:r>
              <a:rPr dirty="0" sz="2400" spc="-5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50">
                <a:solidFill>
                  <a:srgbClr val="E6E6E6"/>
                </a:solidFill>
                <a:latin typeface="Segoe UI"/>
                <a:cs typeface="Segoe UI"/>
              </a:rPr>
              <a:t>2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emissions</a:t>
            </a:r>
            <a:r>
              <a:rPr dirty="0" sz="2400" spc="-5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must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be</a:t>
            </a:r>
            <a:r>
              <a:rPr dirty="0" sz="2400" spc="-6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cut</a:t>
            </a:r>
            <a:r>
              <a:rPr dirty="0" sz="2400" spc="-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to</a:t>
            </a:r>
            <a:r>
              <a:rPr dirty="0" sz="2400" spc="-7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reach Net-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Zero</a:t>
            </a:r>
            <a:r>
              <a:rPr dirty="0" sz="2400" spc="-10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targets.</a:t>
            </a:r>
            <a:endParaRPr sz="2400">
              <a:latin typeface="Segoe UI"/>
              <a:cs typeface="Segoe UI"/>
            </a:endParaRPr>
          </a:p>
          <a:p>
            <a:pPr marL="12700" marR="5080" indent="208915">
              <a:lnSpc>
                <a:spcPct val="100400"/>
              </a:lnSpc>
              <a:spcBef>
                <a:spcPts val="1390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Economic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Burden:</a:t>
            </a:r>
            <a:r>
              <a:rPr dirty="0" sz="2400" spc="-14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Operational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costs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are</a:t>
            </a:r>
            <a:r>
              <a:rPr dirty="0" sz="2400" spc="-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unnecessarily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high</a:t>
            </a:r>
            <a:r>
              <a:rPr dirty="0" sz="2400" spc="-5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for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building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owners.</a:t>
            </a:r>
            <a:endParaRPr sz="2400">
              <a:latin typeface="Segoe UI"/>
              <a:cs typeface="Segoe UI"/>
            </a:endParaRPr>
          </a:p>
        </p:txBody>
      </p:sp>
      <p:pic>
        <p:nvPicPr>
          <p:cNvPr id="4" name="object 4" descr="grid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1828800"/>
            <a:ext cx="365760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The</a:t>
            </a:r>
            <a:r>
              <a:rPr dirty="0" spc="60"/>
              <a:t> </a:t>
            </a:r>
            <a:r>
              <a:rPr dirty="0"/>
              <a:t>Solution:</a:t>
            </a:r>
            <a:r>
              <a:rPr dirty="0" spc="80"/>
              <a:t> </a:t>
            </a:r>
            <a:r>
              <a:rPr dirty="0"/>
              <a:t>EcoOptimize</a:t>
            </a:r>
            <a:r>
              <a:rPr dirty="0" spc="60"/>
              <a:t> </a:t>
            </a:r>
            <a:r>
              <a:rPr dirty="0" spc="-25"/>
              <a:t>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396745"/>
            <a:ext cx="7702550" cy="2214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1615" indent="-208915">
              <a:lnSpc>
                <a:spcPct val="100000"/>
              </a:lnSpc>
              <a:spcBef>
                <a:spcPts val="10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An</a:t>
            </a:r>
            <a:r>
              <a:rPr dirty="0" sz="2400" spc="-7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intelligent,</a:t>
            </a:r>
            <a:r>
              <a:rPr dirty="0" sz="2400" spc="-5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ML-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driven</a:t>
            </a:r>
            <a:r>
              <a:rPr dirty="0" sz="2400" spc="-6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platform</a:t>
            </a:r>
            <a:r>
              <a:rPr dirty="0" sz="2400" spc="-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perfectly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integrated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with</a:t>
            </a:r>
            <a:r>
              <a:rPr dirty="0" sz="2400" spc="-5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existing</a:t>
            </a:r>
            <a:r>
              <a:rPr dirty="0" sz="2400" spc="-3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0">
                <a:solidFill>
                  <a:srgbClr val="E6E6E6"/>
                </a:solidFill>
                <a:latin typeface="Segoe UI"/>
                <a:cs typeface="Segoe UI"/>
              </a:rPr>
              <a:t>BMS.</a:t>
            </a:r>
            <a:endParaRPr sz="2400">
              <a:latin typeface="Segoe UI"/>
              <a:cs typeface="Segoe UI"/>
            </a:endParaRPr>
          </a:p>
          <a:p>
            <a:pPr marL="221615" indent="-208915">
              <a:lnSpc>
                <a:spcPts val="2870"/>
              </a:lnSpc>
              <a:spcBef>
                <a:spcPts val="139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Dynamically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adjusts</a:t>
            </a:r>
            <a:r>
              <a:rPr dirty="0" sz="2400" spc="-2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HVAC</a:t>
            </a:r>
            <a:r>
              <a:rPr dirty="0" sz="2400" spc="-10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and</a:t>
            </a:r>
            <a:r>
              <a:rPr dirty="0" sz="2400" spc="-10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lighting</a:t>
            </a:r>
            <a:r>
              <a:rPr dirty="0" sz="2400" spc="-4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based</a:t>
            </a:r>
            <a:r>
              <a:rPr dirty="0" sz="2400" spc="-10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on</a:t>
            </a:r>
            <a:r>
              <a:rPr dirty="0" sz="2400" spc="-6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actual,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ts val="2870"/>
              </a:lnSpc>
            </a:pPr>
            <a:r>
              <a:rPr dirty="0" sz="2400" spc="-20">
                <a:solidFill>
                  <a:srgbClr val="E6E6E6"/>
                </a:solidFill>
                <a:latin typeface="Segoe UI"/>
                <a:cs typeface="Segoe UI"/>
              </a:rPr>
              <a:t>real-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time</a:t>
            </a:r>
            <a:r>
              <a:rPr dirty="0" sz="2400" spc="2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0">
                <a:solidFill>
                  <a:srgbClr val="E6E6E6"/>
                </a:solidFill>
                <a:latin typeface="Segoe UI"/>
                <a:cs typeface="Segoe UI"/>
              </a:rPr>
              <a:t>data.</a:t>
            </a:r>
            <a:endParaRPr sz="2400">
              <a:latin typeface="Segoe UI"/>
              <a:cs typeface="Segoe UI"/>
            </a:endParaRPr>
          </a:p>
          <a:p>
            <a:pPr marL="221615" indent="-208915">
              <a:lnSpc>
                <a:spcPct val="100000"/>
              </a:lnSpc>
              <a:spcBef>
                <a:spcPts val="140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Operates</a:t>
            </a:r>
            <a:r>
              <a:rPr dirty="0" sz="2400" spc="-6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entirely</a:t>
            </a:r>
            <a:r>
              <a:rPr dirty="0" sz="2400" spc="-5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without</a:t>
            </a:r>
            <a:r>
              <a:rPr dirty="0" sz="2400" spc="-14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human</a:t>
            </a:r>
            <a:r>
              <a:rPr dirty="0" sz="2400" spc="-9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micro-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management.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Alignment</a:t>
            </a:r>
            <a:r>
              <a:rPr dirty="0" spc="95"/>
              <a:t> </a:t>
            </a:r>
            <a:r>
              <a:rPr dirty="0"/>
              <a:t>to</a:t>
            </a:r>
            <a:r>
              <a:rPr dirty="0" spc="120"/>
              <a:t> </a:t>
            </a:r>
            <a:r>
              <a:rPr dirty="0"/>
              <a:t>Smart</a:t>
            </a:r>
            <a:r>
              <a:rPr dirty="0" spc="25"/>
              <a:t> </a:t>
            </a:r>
            <a:r>
              <a:rPr dirty="0" spc="-10"/>
              <a:t>Buildings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396745"/>
            <a:ext cx="4381500" cy="3683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13970" indent="208915">
              <a:lnSpc>
                <a:spcPct val="100400"/>
              </a:lnSpc>
              <a:spcBef>
                <a:spcPts val="90"/>
              </a:spcBef>
              <a:buChar char="•"/>
              <a:tabLst>
                <a:tab pos="221615" algn="l"/>
              </a:tabLst>
            </a:pP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Transforms</a:t>
            </a:r>
            <a:r>
              <a:rPr dirty="0" sz="2400" spc="-6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static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infrastructure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into</a:t>
            </a:r>
            <a:r>
              <a:rPr dirty="0" sz="2400" spc="-1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responsive</a:t>
            </a:r>
            <a:r>
              <a:rPr dirty="0" sz="2400" spc="-6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'Smart' ecosystems.</a:t>
            </a:r>
            <a:endParaRPr sz="2400">
              <a:latin typeface="Segoe UI"/>
              <a:cs typeface="Segoe UI"/>
            </a:endParaRPr>
          </a:p>
          <a:p>
            <a:pPr marL="12700" marR="730250" indent="208915">
              <a:lnSpc>
                <a:spcPct val="100400"/>
              </a:lnSpc>
              <a:spcBef>
                <a:spcPts val="1390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Uses</a:t>
            </a:r>
            <a:r>
              <a:rPr dirty="0" sz="2400" spc="-4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cutting-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edge</a:t>
            </a:r>
            <a:r>
              <a:rPr dirty="0" sz="2400" spc="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sensor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telemetry</a:t>
            </a:r>
            <a:r>
              <a:rPr dirty="0" sz="2400" spc="1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and</a:t>
            </a:r>
            <a:r>
              <a:rPr dirty="0" sz="2400" spc="-1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algorithmic processing.</a:t>
            </a:r>
            <a:endParaRPr sz="2400">
              <a:latin typeface="Segoe UI"/>
              <a:cs typeface="Segoe UI"/>
            </a:endParaRPr>
          </a:p>
          <a:p>
            <a:pPr marL="12700" marR="5080" indent="208915">
              <a:lnSpc>
                <a:spcPct val="100400"/>
              </a:lnSpc>
              <a:spcBef>
                <a:spcPts val="1390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Enhances</a:t>
            </a:r>
            <a:r>
              <a:rPr dirty="0" sz="2400" spc="-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tenant</a:t>
            </a:r>
            <a:r>
              <a:rPr dirty="0" sz="2400" spc="-10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comfort</a:t>
            </a:r>
            <a:r>
              <a:rPr dirty="0" sz="2400" spc="-4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while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drastically</a:t>
            </a:r>
            <a:r>
              <a:rPr dirty="0" sz="2400" spc="-7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lowering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energy overhead.</a:t>
            </a:r>
            <a:endParaRPr sz="2400">
              <a:latin typeface="Segoe UI"/>
              <a:cs typeface="Segoe UI"/>
            </a:endParaRPr>
          </a:p>
        </p:txBody>
      </p:sp>
      <p:pic>
        <p:nvPicPr>
          <p:cNvPr id="4" name="object 4" descr="green_building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1828800"/>
            <a:ext cx="36576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Key</a:t>
            </a:r>
            <a:r>
              <a:rPr dirty="0" spc="-35"/>
              <a:t> </a:t>
            </a:r>
            <a:r>
              <a:rPr dirty="0"/>
              <a:t>Features</a:t>
            </a:r>
            <a:r>
              <a:rPr dirty="0" spc="75"/>
              <a:t> </a:t>
            </a:r>
            <a:r>
              <a:rPr dirty="0"/>
              <a:t>&amp;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45"/>
              <a:t> </a:t>
            </a:r>
            <a:r>
              <a:rPr dirty="0"/>
              <a:t>User</a:t>
            </a:r>
            <a:r>
              <a:rPr dirty="0" spc="10"/>
              <a:t> </a:t>
            </a:r>
            <a:r>
              <a:rPr dirty="0" spc="-10"/>
              <a:t>Journey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396745"/>
            <a:ext cx="8025765" cy="2576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1615" indent="-208915">
              <a:lnSpc>
                <a:spcPct val="100000"/>
              </a:lnSpc>
              <a:spcBef>
                <a:spcPts val="105"/>
              </a:spcBef>
              <a:buChar char="•"/>
              <a:tabLst>
                <a:tab pos="221615" algn="l"/>
              </a:tabLst>
            </a:pP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Interactive</a:t>
            </a:r>
            <a:r>
              <a:rPr dirty="0" sz="2400" spc="-12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Dashboard:</a:t>
            </a:r>
            <a:r>
              <a:rPr dirty="0" sz="2400" spc="-6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Live</a:t>
            </a:r>
            <a:r>
              <a:rPr dirty="0" sz="2400" spc="-114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tracking</a:t>
            </a:r>
            <a:r>
              <a:rPr dirty="0" sz="2400" spc="-6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of</a:t>
            </a:r>
            <a:r>
              <a:rPr dirty="0" sz="2400" spc="-6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energy</a:t>
            </a:r>
            <a:r>
              <a:rPr dirty="0" sz="2400" spc="-4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savings</a:t>
            </a:r>
            <a:r>
              <a:rPr dirty="0" sz="2400" spc="-10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and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carbon</a:t>
            </a:r>
            <a:r>
              <a:rPr dirty="0" sz="2400" spc="-8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reduction.</a:t>
            </a:r>
            <a:endParaRPr sz="2400">
              <a:latin typeface="Segoe UI"/>
              <a:cs typeface="Segoe UI"/>
            </a:endParaRPr>
          </a:p>
          <a:p>
            <a:pPr marL="221615" indent="-208915">
              <a:lnSpc>
                <a:spcPts val="2870"/>
              </a:lnSpc>
              <a:spcBef>
                <a:spcPts val="139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Automated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Controls: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System</a:t>
            </a:r>
            <a:r>
              <a:rPr dirty="0" sz="2400" spc="-12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autonomously</a:t>
            </a:r>
            <a:r>
              <a:rPr dirty="0" sz="2400" spc="-12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commands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ts val="2870"/>
              </a:lnSpc>
            </a:pPr>
            <a:r>
              <a:rPr dirty="0" sz="2400" spc="-20">
                <a:solidFill>
                  <a:srgbClr val="E6E6E6"/>
                </a:solidFill>
                <a:latin typeface="Segoe UI"/>
                <a:cs typeface="Segoe UI"/>
              </a:rPr>
              <a:t>HVAC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0">
                <a:solidFill>
                  <a:srgbClr val="E6E6E6"/>
                </a:solidFill>
                <a:latin typeface="Segoe UI"/>
                <a:cs typeface="Segoe UI"/>
              </a:rPr>
              <a:t>set-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points.</a:t>
            </a:r>
            <a:endParaRPr sz="2400">
              <a:latin typeface="Segoe UI"/>
              <a:cs typeface="Segoe UI"/>
            </a:endParaRPr>
          </a:p>
          <a:p>
            <a:pPr marL="221615" indent="-208915">
              <a:lnSpc>
                <a:spcPts val="2865"/>
              </a:lnSpc>
              <a:spcBef>
                <a:spcPts val="140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Anomaly</a:t>
            </a:r>
            <a:r>
              <a:rPr dirty="0" sz="2400" spc="-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Detection:</a:t>
            </a:r>
            <a:r>
              <a:rPr dirty="0" sz="2400" spc="-3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Sends</a:t>
            </a:r>
            <a:r>
              <a:rPr dirty="0" sz="2400" spc="-7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automatic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alerts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for</a:t>
            </a:r>
            <a:r>
              <a:rPr dirty="0" sz="2400" spc="-4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unusual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ts val="2865"/>
              </a:lnSpc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power</a:t>
            </a:r>
            <a:r>
              <a:rPr dirty="0" sz="2400" spc="-10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drain.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Technical</a:t>
            </a:r>
            <a:r>
              <a:rPr dirty="0" spc="-260"/>
              <a:t> </a:t>
            </a:r>
            <a:r>
              <a:rPr dirty="0" spc="-1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396745"/>
            <a:ext cx="7512684" cy="2576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1615" indent="-208915">
              <a:lnSpc>
                <a:spcPct val="100000"/>
              </a:lnSpc>
              <a:spcBef>
                <a:spcPts val="10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Data</a:t>
            </a:r>
            <a:r>
              <a:rPr dirty="0" sz="2400" spc="-8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Ingestion:</a:t>
            </a:r>
            <a:r>
              <a:rPr dirty="0" sz="2400" spc="-6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IoT</a:t>
            </a:r>
            <a:r>
              <a:rPr dirty="0" sz="2400" spc="-5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MQTT</a:t>
            </a:r>
            <a:r>
              <a:rPr dirty="0" sz="2400" spc="-114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streams</a:t>
            </a:r>
            <a:r>
              <a:rPr dirty="0" sz="2400" spc="-10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(occupancy)</a:t>
            </a:r>
            <a:r>
              <a:rPr dirty="0" sz="2400" spc="-10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+</a:t>
            </a:r>
            <a:r>
              <a:rPr dirty="0" sz="2400" spc="-5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0">
                <a:solidFill>
                  <a:srgbClr val="E6E6E6"/>
                </a:solidFill>
                <a:latin typeface="Segoe UI"/>
                <a:cs typeface="Segoe UI"/>
              </a:rPr>
              <a:t>REST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APIs</a:t>
            </a:r>
            <a:r>
              <a:rPr dirty="0" sz="2400" spc="-5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(weather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forecasts).</a:t>
            </a:r>
            <a:endParaRPr sz="2400">
              <a:latin typeface="Segoe UI"/>
              <a:cs typeface="Segoe UI"/>
            </a:endParaRPr>
          </a:p>
          <a:p>
            <a:pPr marL="221615" indent="-208915">
              <a:lnSpc>
                <a:spcPts val="2870"/>
              </a:lnSpc>
              <a:spcBef>
                <a:spcPts val="139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Machine</a:t>
            </a:r>
            <a:r>
              <a:rPr dirty="0" sz="2400" spc="-13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Learning: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Deep</a:t>
            </a:r>
            <a:r>
              <a:rPr dirty="0" sz="2400" spc="-7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Time-Series</a:t>
            </a:r>
            <a:r>
              <a:rPr dirty="0" sz="2400" spc="-5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forecasting</a:t>
            </a:r>
            <a:r>
              <a:rPr dirty="0" sz="2400" spc="-7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and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ts val="2870"/>
              </a:lnSpc>
            </a:pP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Reinforcement</a:t>
            </a:r>
            <a:r>
              <a:rPr dirty="0" sz="2400" spc="-10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Learning.</a:t>
            </a:r>
            <a:endParaRPr sz="2400">
              <a:latin typeface="Segoe UI"/>
              <a:cs typeface="Segoe UI"/>
            </a:endParaRPr>
          </a:p>
          <a:p>
            <a:pPr marL="221615" indent="-208915">
              <a:lnSpc>
                <a:spcPts val="2865"/>
              </a:lnSpc>
              <a:spcBef>
                <a:spcPts val="140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Interfaces:</a:t>
            </a:r>
            <a:r>
              <a:rPr dirty="0" sz="2400" spc="-1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0">
                <a:solidFill>
                  <a:srgbClr val="E6E6E6"/>
                </a:solidFill>
                <a:latin typeface="Segoe UI"/>
                <a:cs typeface="Segoe UI"/>
              </a:rPr>
              <a:t>Standardized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BACnet</a:t>
            </a:r>
            <a:r>
              <a:rPr dirty="0" sz="2400" spc="-7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&amp;</a:t>
            </a:r>
            <a:r>
              <a:rPr dirty="0" sz="2400" spc="1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Modbus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ts val="2865"/>
              </a:lnSpc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communication</a:t>
            </a:r>
            <a:r>
              <a:rPr dirty="0" sz="2400" spc="-10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protocols.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Innovation:</a:t>
            </a:r>
            <a:r>
              <a:rPr dirty="0" spc="55"/>
              <a:t> </a:t>
            </a:r>
            <a:r>
              <a:rPr dirty="0"/>
              <a:t>Privacy-First</a:t>
            </a:r>
            <a:r>
              <a:rPr dirty="0" spc="55"/>
              <a:t> </a:t>
            </a:r>
            <a:r>
              <a:rPr dirty="0"/>
              <a:t>Edge</a:t>
            </a:r>
            <a:r>
              <a:rPr dirty="0" spc="50"/>
              <a:t> </a:t>
            </a:r>
            <a:r>
              <a:rPr dirty="0" spc="-25"/>
              <a:t>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396745"/>
            <a:ext cx="4137025" cy="3683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76200" indent="208915">
              <a:lnSpc>
                <a:spcPct val="100400"/>
              </a:lnSpc>
              <a:spcBef>
                <a:spcPts val="90"/>
              </a:spcBef>
              <a:buChar char="•"/>
              <a:tabLst>
                <a:tab pos="221615" algn="l"/>
              </a:tabLst>
            </a:pP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Processed</a:t>
            </a:r>
            <a:r>
              <a:rPr dirty="0" sz="2400" spc="-11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Locally:</a:t>
            </a:r>
            <a:r>
              <a:rPr dirty="0" sz="2400" spc="-4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Leverages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NPUs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(like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Snapdragon)</a:t>
            </a:r>
            <a:r>
              <a:rPr dirty="0" sz="2400" spc="-10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for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localized</a:t>
            </a:r>
            <a:r>
              <a:rPr dirty="0" sz="2400" spc="-10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inference.</a:t>
            </a:r>
            <a:endParaRPr sz="2400">
              <a:latin typeface="Segoe UI"/>
              <a:cs typeface="Segoe UI"/>
            </a:endParaRPr>
          </a:p>
          <a:p>
            <a:pPr marL="12700" marR="5080" indent="208915">
              <a:lnSpc>
                <a:spcPct val="100400"/>
              </a:lnSpc>
              <a:spcBef>
                <a:spcPts val="1390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Zero</a:t>
            </a:r>
            <a:r>
              <a:rPr dirty="0" sz="2400" spc="-11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Latency:</a:t>
            </a:r>
            <a:r>
              <a:rPr dirty="0" sz="2400" spc="-6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Immediate</a:t>
            </a:r>
            <a:r>
              <a:rPr dirty="0" sz="2400" spc="-11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0">
                <a:solidFill>
                  <a:srgbClr val="E6E6E6"/>
                </a:solidFill>
                <a:latin typeface="Segoe UI"/>
                <a:cs typeface="Segoe UI"/>
              </a:rPr>
              <a:t>set-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point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adjustment</a:t>
            </a:r>
            <a:r>
              <a:rPr dirty="0" sz="2400" spc="-2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on</a:t>
            </a:r>
            <a:r>
              <a:rPr dirty="0" sz="2400" spc="-3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the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physical</a:t>
            </a:r>
            <a:r>
              <a:rPr dirty="0" sz="2400" spc="-5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hardware.</a:t>
            </a:r>
            <a:endParaRPr sz="2400">
              <a:latin typeface="Segoe UI"/>
              <a:cs typeface="Segoe UI"/>
            </a:endParaRPr>
          </a:p>
          <a:p>
            <a:pPr marL="12700" marR="426084" indent="208915">
              <a:lnSpc>
                <a:spcPct val="100400"/>
              </a:lnSpc>
              <a:spcBef>
                <a:spcPts val="1390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Peak</a:t>
            </a:r>
            <a:r>
              <a:rPr dirty="0" sz="2400" spc="-14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Privacy: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Data</a:t>
            </a:r>
            <a:r>
              <a:rPr dirty="0" sz="2400" spc="-10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doesn't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need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to</a:t>
            </a:r>
            <a:r>
              <a:rPr dirty="0" sz="2400" spc="-7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be pushed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to</a:t>
            </a:r>
            <a:r>
              <a:rPr dirty="0" sz="2400" spc="-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an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external</a:t>
            </a:r>
            <a:r>
              <a:rPr dirty="0" sz="2400" spc="-8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cloud.</a:t>
            </a:r>
            <a:endParaRPr sz="2400">
              <a:latin typeface="Segoe UI"/>
              <a:cs typeface="Segoe UI"/>
            </a:endParaRPr>
          </a:p>
        </p:txBody>
      </p:sp>
      <p:pic>
        <p:nvPicPr>
          <p:cNvPr id="4" name="object 4" descr="iot_architecture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9200" y="1828800"/>
            <a:ext cx="3657600" cy="3181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Expected</a:t>
            </a:r>
            <a:r>
              <a:rPr dirty="0" spc="-20"/>
              <a:t> </a:t>
            </a:r>
            <a:r>
              <a:rPr dirty="0"/>
              <a:t>Impact</a:t>
            </a:r>
            <a:r>
              <a:rPr dirty="0" spc="10"/>
              <a:t> </a:t>
            </a:r>
            <a:r>
              <a:rPr dirty="0"/>
              <a:t>&amp;</a:t>
            </a:r>
            <a:r>
              <a:rPr dirty="0" spc="55"/>
              <a:t> </a:t>
            </a:r>
            <a:r>
              <a:rPr dirty="0" spc="-10"/>
              <a:t>Beneficiaries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396745"/>
            <a:ext cx="7446009" cy="2576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1615" indent="-208915">
              <a:lnSpc>
                <a:spcPct val="100000"/>
              </a:lnSpc>
              <a:spcBef>
                <a:spcPts val="10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Projected</a:t>
            </a:r>
            <a:r>
              <a:rPr dirty="0" sz="2400" spc="-5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20%</a:t>
            </a:r>
            <a:r>
              <a:rPr dirty="0" sz="2400" spc="-6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to</a:t>
            </a:r>
            <a:r>
              <a:rPr dirty="0" sz="2400" spc="-3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30%</a:t>
            </a:r>
            <a:r>
              <a:rPr dirty="0" sz="2400" spc="-6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reduction</a:t>
            </a:r>
            <a:r>
              <a:rPr dirty="0" sz="2400" spc="-6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in</a:t>
            </a:r>
            <a:r>
              <a:rPr dirty="0" sz="2400" spc="-6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HVAC</a:t>
            </a:r>
            <a:r>
              <a:rPr dirty="0" sz="2400" spc="-10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and</a:t>
            </a:r>
            <a:r>
              <a:rPr dirty="0" sz="2400" spc="-5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lighting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energy</a:t>
            </a:r>
            <a:r>
              <a:rPr dirty="0" sz="2400" spc="-114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usage.</a:t>
            </a:r>
            <a:endParaRPr sz="2400">
              <a:latin typeface="Segoe UI"/>
              <a:cs typeface="Segoe UI"/>
            </a:endParaRPr>
          </a:p>
          <a:p>
            <a:pPr marL="221615" indent="-208915">
              <a:lnSpc>
                <a:spcPts val="2870"/>
              </a:lnSpc>
              <a:spcBef>
                <a:spcPts val="1395"/>
              </a:spcBef>
              <a:buChar char="•"/>
              <a:tabLst>
                <a:tab pos="221615" algn="l"/>
              </a:tabLst>
            </a:pP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Facility</a:t>
            </a:r>
            <a:r>
              <a:rPr dirty="0" sz="2400" spc="-10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Managers:</a:t>
            </a:r>
            <a:r>
              <a:rPr dirty="0" sz="2400" spc="-6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Reduced</a:t>
            </a:r>
            <a:r>
              <a:rPr dirty="0" sz="2400" spc="-6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utility</a:t>
            </a:r>
            <a:r>
              <a:rPr dirty="0" sz="2400" spc="-3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bills</a:t>
            </a:r>
            <a:r>
              <a:rPr dirty="0" sz="2400" spc="-10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and</a:t>
            </a:r>
            <a:r>
              <a:rPr dirty="0" sz="2400" spc="-12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lowered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ts val="2870"/>
              </a:lnSpc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maintenance</a:t>
            </a:r>
            <a:r>
              <a:rPr dirty="0" sz="2400" spc="-1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hours.</a:t>
            </a:r>
            <a:endParaRPr sz="2400">
              <a:latin typeface="Segoe UI"/>
              <a:cs typeface="Segoe UI"/>
            </a:endParaRPr>
          </a:p>
          <a:p>
            <a:pPr marL="221615" indent="-208915">
              <a:lnSpc>
                <a:spcPts val="2865"/>
              </a:lnSpc>
              <a:spcBef>
                <a:spcPts val="140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Planet</a:t>
            </a:r>
            <a:r>
              <a:rPr dirty="0" sz="2400" spc="-1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Earth:</a:t>
            </a:r>
            <a:r>
              <a:rPr dirty="0" sz="2400" spc="-1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Significant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decarbonization</a:t>
            </a:r>
            <a:r>
              <a:rPr dirty="0" sz="2400" spc="-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step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in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ts val="2865"/>
              </a:lnSpc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commercial</a:t>
            </a:r>
            <a:r>
              <a:rPr dirty="0" sz="2400" spc="-11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environments.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Implementation</a:t>
            </a:r>
            <a:r>
              <a:rPr dirty="0" spc="100"/>
              <a:t> </a:t>
            </a:r>
            <a:r>
              <a:rPr dirty="0" spc="-10"/>
              <a:t>Roadmap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575" y="1396745"/>
            <a:ext cx="7930515" cy="27578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1615" indent="-208915">
              <a:lnSpc>
                <a:spcPct val="100000"/>
              </a:lnSpc>
              <a:spcBef>
                <a:spcPts val="10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Phase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1:</a:t>
            </a:r>
            <a:r>
              <a:rPr dirty="0" sz="2400" spc="-3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Prototype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Mock</a:t>
            </a:r>
            <a:r>
              <a:rPr dirty="0" sz="2400" spc="-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Dashboard</a:t>
            </a:r>
            <a:r>
              <a:rPr dirty="0" sz="2400" spc="-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&amp;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Core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ML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Algorithm</a:t>
            </a:r>
            <a:r>
              <a:rPr dirty="0" sz="2400" spc="-4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(Current).</a:t>
            </a:r>
            <a:endParaRPr sz="2400">
              <a:latin typeface="Segoe UI"/>
              <a:cs typeface="Segoe UI"/>
            </a:endParaRPr>
          </a:p>
          <a:p>
            <a:pPr marL="221615" indent="-208915">
              <a:lnSpc>
                <a:spcPct val="100000"/>
              </a:lnSpc>
              <a:spcBef>
                <a:spcPts val="139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Phase</a:t>
            </a:r>
            <a:r>
              <a:rPr dirty="0" sz="2400" spc="-9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2:</a:t>
            </a:r>
            <a:r>
              <a:rPr dirty="0" sz="2400" spc="-3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Internal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Pilot</a:t>
            </a:r>
            <a:r>
              <a:rPr dirty="0" sz="2400" spc="-3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in</a:t>
            </a:r>
            <a:r>
              <a:rPr dirty="0" sz="2400" spc="-5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a</a:t>
            </a:r>
            <a:r>
              <a:rPr dirty="0" sz="2400" spc="-6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single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commercial</a:t>
            </a:r>
            <a:r>
              <a:rPr dirty="0" sz="2400" spc="-9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office</a:t>
            </a:r>
            <a:r>
              <a:rPr dirty="0" sz="2400" spc="-2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space.</a:t>
            </a:r>
            <a:endParaRPr sz="2400">
              <a:latin typeface="Segoe UI"/>
              <a:cs typeface="Segoe UI"/>
            </a:endParaRPr>
          </a:p>
          <a:p>
            <a:pPr marL="221615" indent="-208915">
              <a:lnSpc>
                <a:spcPts val="2865"/>
              </a:lnSpc>
              <a:spcBef>
                <a:spcPts val="140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Phase</a:t>
            </a:r>
            <a:r>
              <a:rPr dirty="0" sz="2400" spc="-10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3:</a:t>
            </a:r>
            <a:r>
              <a:rPr dirty="0" sz="2400" spc="-4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Hardware</a:t>
            </a:r>
            <a:r>
              <a:rPr dirty="0" sz="2400" spc="-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integration</a:t>
            </a:r>
            <a:r>
              <a:rPr dirty="0" sz="2400" spc="-5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into</a:t>
            </a:r>
            <a:r>
              <a:rPr dirty="0" sz="2400" spc="-3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legacy</a:t>
            </a:r>
            <a:r>
              <a:rPr dirty="0" sz="2400" spc="-8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Building</a:t>
            </a:r>
            <a:endParaRPr sz="2400">
              <a:latin typeface="Segoe UI"/>
              <a:cs typeface="Segoe UI"/>
            </a:endParaRPr>
          </a:p>
          <a:p>
            <a:pPr marL="12700">
              <a:lnSpc>
                <a:spcPts val="2865"/>
              </a:lnSpc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Management</a:t>
            </a:r>
            <a:r>
              <a:rPr dirty="0" sz="2400" spc="-1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Systems.</a:t>
            </a:r>
            <a:endParaRPr sz="2400">
              <a:latin typeface="Segoe UI"/>
              <a:cs typeface="Segoe UI"/>
            </a:endParaRPr>
          </a:p>
          <a:p>
            <a:pPr marL="221615" indent="-208915">
              <a:lnSpc>
                <a:spcPct val="100000"/>
              </a:lnSpc>
              <a:spcBef>
                <a:spcPts val="1405"/>
              </a:spcBef>
              <a:buChar char="•"/>
              <a:tabLst>
                <a:tab pos="221615" algn="l"/>
              </a:tabLst>
            </a:pP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Phase</a:t>
            </a:r>
            <a:r>
              <a:rPr dirty="0" sz="2400" spc="-8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4:</a:t>
            </a:r>
            <a:r>
              <a:rPr dirty="0" sz="2400" spc="-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Full-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Scale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SaaS</a:t>
            </a:r>
            <a:r>
              <a:rPr dirty="0" sz="2400" spc="-30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>
                <a:solidFill>
                  <a:srgbClr val="E6E6E6"/>
                </a:solidFill>
                <a:latin typeface="Segoe UI"/>
                <a:cs typeface="Segoe UI"/>
              </a:rPr>
              <a:t>Commercial</a:t>
            </a:r>
            <a:r>
              <a:rPr dirty="0" sz="2400" spc="-15">
                <a:solidFill>
                  <a:srgbClr val="E6E6E6"/>
                </a:solidFill>
                <a:latin typeface="Segoe UI"/>
                <a:cs typeface="Segoe UI"/>
              </a:rPr>
              <a:t> </a:t>
            </a:r>
            <a:r>
              <a:rPr dirty="0" sz="2400" spc="-10">
                <a:solidFill>
                  <a:srgbClr val="E6E6E6"/>
                </a:solidFill>
                <a:latin typeface="Segoe UI"/>
                <a:cs typeface="Segoe UI"/>
              </a:rPr>
              <a:t>Rollout.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/>
              <a:t>Team</a:t>
            </a:r>
            <a:r>
              <a:rPr dirty="0" spc="-245"/>
              <a:t> </a:t>
            </a:r>
            <a:r>
              <a:rPr dirty="0" spc="-10"/>
              <a:t>Introduction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1135" rIns="0" bIns="0" rtlCol="0" vert="horz">
            <a:spAutoFit/>
          </a:bodyPr>
          <a:lstStyle/>
          <a:p>
            <a:pPr marL="306070" indent="-293370">
              <a:lnSpc>
                <a:spcPct val="100000"/>
              </a:lnSpc>
              <a:spcBef>
                <a:spcPts val="1505"/>
              </a:spcBef>
              <a:buChar char="•"/>
              <a:tabLst>
                <a:tab pos="306070" algn="l"/>
              </a:tabLst>
            </a:pPr>
            <a:r>
              <a:rPr dirty="0"/>
              <a:t>A</a:t>
            </a:r>
            <a:r>
              <a:rPr dirty="0" spc="35"/>
              <a:t> </a:t>
            </a:r>
            <a:r>
              <a:rPr dirty="0"/>
              <a:t>V</a:t>
            </a:r>
            <a:r>
              <a:rPr dirty="0" spc="-55"/>
              <a:t> </a:t>
            </a:r>
            <a:r>
              <a:rPr dirty="0"/>
              <a:t>U</a:t>
            </a:r>
            <a:r>
              <a:rPr dirty="0" spc="25"/>
              <a:t> </a:t>
            </a:r>
            <a:r>
              <a:rPr dirty="0" spc="-10"/>
              <a:t>Pushyami.</a:t>
            </a:r>
          </a:p>
          <a:p>
            <a:pPr marL="221615" indent="-208915">
              <a:lnSpc>
                <a:spcPct val="100000"/>
              </a:lnSpc>
              <a:spcBef>
                <a:spcPts val="1400"/>
              </a:spcBef>
              <a:buChar char="•"/>
              <a:tabLst>
                <a:tab pos="221615" algn="l"/>
              </a:tabLst>
            </a:pPr>
            <a:r>
              <a:rPr dirty="0"/>
              <a:t>Software</a:t>
            </a:r>
            <a:r>
              <a:rPr dirty="0" spc="-80"/>
              <a:t> </a:t>
            </a:r>
            <a:r>
              <a:rPr dirty="0"/>
              <a:t>Engineer</a:t>
            </a:r>
            <a:r>
              <a:rPr dirty="0" spc="-35"/>
              <a:t> </a:t>
            </a:r>
            <a:r>
              <a:rPr dirty="0"/>
              <a:t>|</a:t>
            </a:r>
            <a:r>
              <a:rPr dirty="0" spc="-70"/>
              <a:t> </a:t>
            </a:r>
            <a:r>
              <a:rPr dirty="0"/>
              <a:t>Data</a:t>
            </a:r>
            <a:r>
              <a:rPr dirty="0" spc="-45"/>
              <a:t> </a:t>
            </a:r>
            <a:r>
              <a:rPr dirty="0"/>
              <a:t>Engineering</a:t>
            </a:r>
            <a:r>
              <a:rPr dirty="0" spc="-80"/>
              <a:t> </a:t>
            </a:r>
            <a:r>
              <a:rPr dirty="0"/>
              <a:t>&amp; AI</a:t>
            </a:r>
            <a:r>
              <a:rPr dirty="0" spc="-55"/>
              <a:t> </a:t>
            </a:r>
            <a:r>
              <a:rPr dirty="0" spc="-10"/>
              <a:t>Developer</a:t>
            </a:r>
          </a:p>
          <a:p>
            <a:pPr marL="221615" indent="-208915">
              <a:lnSpc>
                <a:spcPct val="100000"/>
              </a:lnSpc>
              <a:spcBef>
                <a:spcPts val="1400"/>
              </a:spcBef>
              <a:buChar char="•"/>
              <a:tabLst>
                <a:tab pos="221615" algn="l"/>
              </a:tabLst>
            </a:pPr>
            <a:r>
              <a:rPr dirty="0"/>
              <a:t>Email:</a:t>
            </a:r>
            <a:r>
              <a:rPr dirty="0" spc="-45"/>
              <a:t> </a:t>
            </a:r>
            <a:r>
              <a:rPr dirty="0" spc="-10">
                <a:hlinkClick r:id="rId2"/>
              </a:rPr>
              <a:t>pushyamireddy4533@gmail.com</a:t>
            </a:r>
          </a:p>
          <a:p>
            <a:pPr marL="221615" indent="-208915">
              <a:lnSpc>
                <a:spcPct val="100000"/>
              </a:lnSpc>
              <a:spcBef>
                <a:spcPts val="1405"/>
              </a:spcBef>
              <a:buChar char="•"/>
              <a:tabLst>
                <a:tab pos="221615" algn="l"/>
              </a:tabLst>
            </a:pPr>
            <a:r>
              <a:rPr dirty="0"/>
              <a:t>Location:</a:t>
            </a:r>
            <a:r>
              <a:rPr dirty="0" spc="-60"/>
              <a:t> </a:t>
            </a:r>
            <a:r>
              <a:rPr dirty="0"/>
              <a:t>Bengaluru,</a:t>
            </a:r>
            <a:r>
              <a:rPr dirty="0" spc="-40"/>
              <a:t> </a:t>
            </a:r>
            <a:r>
              <a:rPr dirty="0" spc="-10"/>
              <a:t>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6E6E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2026-09-30T10:22:11Z</dcterms:created>
  <dcterms:modified xsi:type="dcterms:W3CDTF">2026-09-30T10:22:11Z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2026-09-30T00:00:00Z</vt:filetime>
  </property>
  <property fmtid="{D5CDD505-2E9C-101B-9397-08002B2CF9AE}" pid="4" name="LastSaved">
    <vt:filetime>2026-09-30T00:00:00Z</vt:filetime>
  </property>
</Properties>
</file>